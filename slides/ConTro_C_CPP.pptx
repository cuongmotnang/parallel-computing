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nhóm, môn học, chủ đề. Nhớ điền mã sinh viên, tên trường/khoa, giảng viên.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phần 8 gắn với môn Tính toán song song.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Địa chỉ in ra mỗi lần chạy có thể khác nhau do ASLR.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Dấu * khi khai báo khác dấu * trong biểu thức. sizeof(con trỏ) = 8 byte trên máy 64-bit.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Mảng không phải con trỏ: sizeof khác nhau, không gán lại tên mảng. C không kiểm tra biên.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 chất con trỏ vẫn truyền theo giá trị (bản sao địa chỉ). Không trả về địa chỉ biến cục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nhỏ, tự giải phóng; Heap lớn, tự quản lý. new[] phải đi với delete[].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Dangling pointer nguy hiểm nhất vì chương trình có thể vẫn chạy 'bình thường'.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Bộ đếm của shared_ptr là atomic – an toàn đa luồng; dữ liệu trỏ tới thì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Luồng chung Heap/biến toàn cục, mỗi luồng có Stack riêng. void* phải ép kiểu trước khi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Biên dịch: gcc sum_pthread.c -o sum -pthread. Code đầy đủ: code/sum_pthread.c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Tóm tắt 4 ý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TRƯỜNG ……………………  •  KHOA ……………………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E75B6"/>
                </a:solidFill>
                <a:latin typeface="Calibri"/>
              </a:rPr>
              <a:t>MÔN HỌC: TÍNH TOÁN SONG 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659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95959"/>
                </a:solidFill>
                <a:latin typeface="Calibri"/>
              </a:rPr>
              <a:t>BÁO CÁO GIỮA KỲ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Calibri"/>
              </a:rPr>
              <a:t>CON TRỎ (POINTER) TRONG C/C++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3429000"/>
            <a:ext cx="274320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3657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Nhóm thực hiện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55848" y="406908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Họ và tên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Mã sinh viên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Bùi Xuân Chung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Lê Văn Cường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Đào Ngọc Cường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Calibri"/>
              </a:rPr>
              <a:t>Giảng viên hướng dẫn: ……………………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2 / 13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08760"/>
            <a:ext cx="594360" cy="5943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361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Bộ nhớ và địa chỉ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423160"/>
            <a:ext cx="594360" cy="5943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505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Khái niệm con trỏ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337560"/>
            <a:ext cx="594360" cy="5943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3649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Con trỏ và mảng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251960"/>
            <a:ext cx="594360" cy="5943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793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Con trỏ và hàm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166360"/>
            <a:ext cx="594360" cy="5943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1937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Cấp phát bộ nhớ động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08760"/>
            <a:ext cx="594360" cy="5943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5361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Lỗi thường gặp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423160"/>
            <a:ext cx="594360" cy="5943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505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Con trỏ trong C++ hiện đại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337560"/>
            <a:ext cx="594360" cy="5943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3649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Con trỏ trong tính toán song song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4251960"/>
            <a:ext cx="594360" cy="5943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27939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Calibri"/>
              </a:rPr>
              <a:t>Ví dụ minh họa &amp;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1. Bộ nhớ và địa chỉ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RAM gồm các ô nhớ 1 byte, mỗi ô có một </a:t>
            </a:r>
            <a:r>
              <a:rPr sz="2200" b="1">
                <a:solidFill>
                  <a:srgbClr val="000000"/>
                </a:solidFill>
                <a:latin typeface="Calibri"/>
              </a:rPr>
              <a:t>địa chỉ</a:t>
            </a:r>
            <a:r>
              <a:rPr sz="2200" b="0">
                <a:solidFill>
                  <a:srgbClr val="000000"/>
                </a:solidFill>
                <a:latin typeface="Calibri"/>
              </a:rPr>
              <a:t> riêng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Khai báo biến → được cấp vùng nhớ (</a:t>
            </a:r>
            <a:r>
              <a:rPr sz="2200" b="0">
                <a:solidFill>
                  <a:srgbClr val="1F4E79"/>
                </a:solidFill>
                <a:latin typeface="Consolas"/>
              </a:rPr>
              <a:t>int</a:t>
            </a:r>
            <a:r>
              <a:rPr sz="2200" b="0">
                <a:solidFill>
                  <a:srgbClr val="000000"/>
                </a:solidFill>
                <a:latin typeface="Calibri"/>
              </a:rPr>
              <a:t> thường 4 byte)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Mỗi biến có: </a:t>
            </a:r>
            <a:r>
              <a:rPr sz="2200" b="1">
                <a:solidFill>
                  <a:srgbClr val="000000"/>
                </a:solidFill>
                <a:latin typeface="Calibri"/>
              </a:rPr>
              <a:t>tên, kiểu, giá trị, địa chỉ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Toán tử </a:t>
            </a:r>
            <a:r>
              <a:rPr sz="2200" b="0">
                <a:solidFill>
                  <a:srgbClr val="1F4E79"/>
                </a:solidFill>
                <a:latin typeface="Consolas"/>
              </a:rPr>
              <a:t>&amp;</a:t>
            </a:r>
            <a:r>
              <a:rPr sz="2200" b="0">
                <a:solidFill>
                  <a:srgbClr val="000000"/>
                </a:solidFill>
                <a:latin typeface="Calibri"/>
              </a:rPr>
              <a:t> lấy địa chỉ của biến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6035040" cy="146304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int x = 10;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printf("Gia tri: %d\n", x);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printf("Dia chi: %p\n", (void*)&amp;x);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73152" cy="1463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325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Minh họa bộ nhớ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0">
                <a:solidFill>
                  <a:srgbClr val="000000"/>
                </a:solidFill>
                <a:latin typeface="Calibri"/>
              </a:rPr>
              <a:t>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57399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latin typeface="Consolas"/>
              </a:rPr>
              <a:t>0x1000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743200"/>
            <a:ext cx="2011680" cy="77724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000000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2608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latin typeface="Consolas"/>
              </a:rPr>
              <a:t>0x1004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61187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0">
                <a:solidFill>
                  <a:srgbClr val="000000"/>
                </a:solidFill>
                <a:latin typeface="Calibri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794759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latin typeface="Consolas"/>
              </a:rPr>
              <a:t>0x1008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448055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0">
                <a:solidFill>
                  <a:srgbClr val="000000"/>
                </a:solidFill>
                <a:latin typeface="Calibri"/>
              </a:rPr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663439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latin typeface="Consolas"/>
              </a:rPr>
              <a:t>0x100C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88036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←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40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onsolas"/>
              </a:rPr>
              <a:t>&amp;x  →  0x1004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2. Con trỏ là gì?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1">
                <a:solidFill>
                  <a:srgbClr val="000000"/>
                </a:solidFill>
                <a:latin typeface="Calibri"/>
              </a:rPr>
              <a:t>Con trỏ</a:t>
            </a:r>
            <a:r>
              <a:rPr sz="2200" b="0">
                <a:solidFill>
                  <a:srgbClr val="000000"/>
                </a:solidFill>
                <a:latin typeface="Calibri"/>
              </a:rPr>
              <a:t> là biến lưu </a:t>
            </a:r>
            <a:r>
              <a:rPr sz="2200" b="1">
                <a:solidFill>
                  <a:srgbClr val="000000"/>
                </a:solidFill>
                <a:latin typeface="Calibri"/>
              </a:rPr>
              <a:t>địa chỉ</a:t>
            </a:r>
            <a:r>
              <a:rPr sz="2200" b="0">
                <a:solidFill>
                  <a:srgbClr val="000000"/>
                </a:solidFill>
                <a:latin typeface="Calibri"/>
              </a:rPr>
              <a:t> của biến khác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Khai báo: </a:t>
            </a:r>
            <a:r>
              <a:rPr sz="2200" b="0">
                <a:solidFill>
                  <a:srgbClr val="1F4E79"/>
                </a:solidFill>
                <a:latin typeface="Consolas"/>
              </a:rPr>
              <a:t>kiểu *tên;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1F4E79"/>
                </a:solidFill>
                <a:latin typeface="Consolas"/>
              </a:rPr>
              <a:t>&amp;x</a:t>
            </a:r>
            <a:r>
              <a:rPr sz="2200" b="0">
                <a:solidFill>
                  <a:srgbClr val="000000"/>
                </a:solidFill>
                <a:latin typeface="Calibri"/>
              </a:rPr>
              <a:t> : lấy địa chỉ của x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1F4E79"/>
                </a:solidFill>
                <a:latin typeface="Consolas"/>
              </a:rPr>
              <a:t>*p</a:t>
            </a:r>
            <a:r>
              <a:rPr sz="2200" b="0">
                <a:solidFill>
                  <a:srgbClr val="000000"/>
                </a:solidFill>
                <a:latin typeface="Calibri"/>
              </a:rPr>
              <a:t> : truy cập giá trị tại địa chỉ p (dereference)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603504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int x = 10;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int *p = &amp;x;      </a:t>
            </a:r>
            <a:r>
              <a:rPr sz="1700" b="0">
                <a:solidFill>
                  <a:srgbClr val="008000"/>
                </a:solidFill>
                <a:latin typeface="Consolas"/>
              </a:rPr>
              <a:t>// p trỏ tới x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*p = 20;          </a:t>
            </a:r>
            <a:r>
              <a:rPr sz="1700" b="0">
                <a:solidFill>
                  <a:srgbClr val="008000"/>
                </a:solidFill>
                <a:latin typeface="Consolas"/>
              </a:rPr>
              <a:t>// sửa x thông qua p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printf("%d", x);  </a:t>
            </a:r>
            <a:r>
              <a:rPr sz="1700" b="0">
                <a:solidFill>
                  <a:srgbClr val="008000"/>
                </a:solidFill>
                <a:latin typeface="Consolas"/>
              </a:rPr>
              <a:t>//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73152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325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p trỏ tới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651760"/>
            <a:ext cx="1737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onsolas"/>
              </a:rPr>
              <a:t>0x1004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Calibri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611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địa chỉ: 0x2000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651760"/>
            <a:ext cx="1737360" cy="91440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400" b="1">
                <a:solidFill>
                  <a:srgbClr val="000000"/>
                </a:solidFill>
                <a:latin typeface="Calibr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194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Calibri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611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địa chỉ: 0x1004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52560" y="3108960"/>
            <a:ext cx="822960" cy="0"/>
          </a:xfrm>
          <a:prstGeom prst="line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0" y="434340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Biểu thức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Giá trị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0x1004 (địa chỉ của 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*p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20 (giá trị của x)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4E79"/>
                          </a:solidFill>
                          <a:latin typeface="Consolas"/>
                        </a:rPr>
                        <a:t>&amp;p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0x2000 (địa chỉ của 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3. Con trỏ và mảng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Tên mảng ≈ địa chỉ phần tử đầu: </a:t>
            </a:r>
            <a:r>
              <a:rPr sz="2200" b="0">
                <a:solidFill>
                  <a:srgbClr val="1F4E79"/>
                </a:solidFill>
                <a:latin typeface="Consolas"/>
              </a:rPr>
              <a:t>a == &amp;a[0]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1F4E79"/>
                </a:solidFill>
                <a:latin typeface="Consolas"/>
              </a:rPr>
              <a:t>a[i]</a:t>
            </a:r>
            <a:r>
              <a:rPr sz="2200" b="0">
                <a:solidFill>
                  <a:srgbClr val="000000"/>
                </a:solidFill>
                <a:latin typeface="Calibri"/>
              </a:rPr>
              <a:t> tương đương </a:t>
            </a:r>
            <a:r>
              <a:rPr sz="2200" b="0">
                <a:solidFill>
                  <a:srgbClr val="1F4E79"/>
                </a:solidFill>
                <a:latin typeface="Consolas"/>
              </a:rPr>
              <a:t>*(a + i)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Số học con trỏ: </a:t>
            </a:r>
            <a:r>
              <a:rPr sz="2200" b="0">
                <a:solidFill>
                  <a:srgbClr val="1F4E79"/>
                </a:solidFill>
                <a:latin typeface="Consolas"/>
              </a:rPr>
              <a:t>p + 1</a:t>
            </a:r>
            <a:r>
              <a:rPr sz="2200" b="0">
                <a:solidFill>
                  <a:srgbClr val="000000"/>
                </a:solidFill>
                <a:latin typeface="Calibri"/>
              </a:rPr>
              <a:t> tiến thêm </a:t>
            </a:r>
            <a:r>
              <a:rPr sz="2200" b="0">
                <a:solidFill>
                  <a:srgbClr val="1F4E79"/>
                </a:solidFill>
                <a:latin typeface="Consolas"/>
              </a:rPr>
              <a:t>sizeof(kiểu)</a:t>
            </a:r>
            <a:r>
              <a:rPr sz="2200" b="0">
                <a:solidFill>
                  <a:srgbClr val="000000"/>
                </a:solidFill>
                <a:latin typeface="Calibri"/>
              </a:rPr>
              <a:t> byte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Phần tử mảng nằm </a:t>
            </a:r>
            <a:r>
              <a:rPr sz="2200" b="1">
                <a:solidFill>
                  <a:srgbClr val="000000"/>
                </a:solidFill>
                <a:latin typeface="Calibri"/>
              </a:rPr>
              <a:t>liên tiếp</a:t>
            </a:r>
            <a:r>
              <a:rPr sz="2200" b="0">
                <a:solidFill>
                  <a:srgbClr val="000000"/>
                </a:solidFill>
                <a:latin typeface="Calibri"/>
              </a:rPr>
              <a:t> trong bộ nhớ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60350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int a[5] = {1, 2, 3, 4, 5};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int *p = a;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for (int i = 0; i &lt; 5; i++)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Consolas"/>
              </a:rPr>
              <a:t>    printf("%d ", *(p + i));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73152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3258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Mảng int a[5] trong bộ nhớ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2377440"/>
            <a:ext cx="91440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onsolas"/>
              </a:rPr>
              <a:t>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Consolas"/>
              </a:rPr>
              <a:t>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377440"/>
            <a:ext cx="914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onsolas"/>
              </a:rPr>
              <a:t>1004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Consolas"/>
              </a:rPr>
              <a:t>p+1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377440"/>
            <a:ext cx="914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onsolas"/>
              </a:rPr>
              <a:t>1008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Consolas"/>
              </a:rPr>
              <a:t>p+2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377440"/>
            <a:ext cx="914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onsolas"/>
              </a:rPr>
              <a:t>1012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Consolas"/>
              </a:rPr>
              <a:t>p+3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44200" y="2377440"/>
            <a:ext cx="914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onsolas"/>
              </a:rPr>
              <a:t>1016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Consolas"/>
              </a:rPr>
              <a:t>p+4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576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mỗi bước +4 byte = sizeof(int)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086600" y="4251960"/>
          <a:ext cx="45720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Mảng 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 trỏ 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sizeof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20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8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Gán lại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Được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4. Con trỏ và hàm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C truyền tham số </a:t>
            </a:r>
            <a:r>
              <a:rPr sz="2200" b="1">
                <a:solidFill>
                  <a:srgbClr val="000000"/>
                </a:solidFill>
                <a:latin typeface="Calibri"/>
              </a:rPr>
              <a:t>theo giá trị</a:t>
            </a:r>
            <a:r>
              <a:rPr sz="2200" b="0">
                <a:solidFill>
                  <a:srgbClr val="000000"/>
                </a:solidFill>
                <a:latin typeface="Calibri"/>
              </a:rPr>
              <a:t>: hàm chỉ nhận </a:t>
            </a:r>
            <a:r>
              <a:rPr sz="2200" b="1">
                <a:solidFill>
                  <a:srgbClr val="000000"/>
                </a:solidFill>
                <a:latin typeface="Calibri"/>
              </a:rPr>
              <a:t>bản sao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■  </a:t>
            </a:r>
            <a:r>
              <a:rPr sz="2200" b="0">
                <a:solidFill>
                  <a:srgbClr val="000000"/>
                </a:solidFill>
                <a:latin typeface="Calibri"/>
              </a:rPr>
              <a:t>Muốn hàm sửa được biến gốc → truyền </a:t>
            </a:r>
            <a:r>
              <a:rPr sz="2200" b="1">
                <a:solidFill>
                  <a:srgbClr val="000000"/>
                </a:solidFill>
                <a:latin typeface="Calibri"/>
              </a:rPr>
              <a:t>địa chỉ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Calibri"/>
              </a:rPr>
              <a:t>✗  Truyền giá trị – x, y không đổi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39496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void swap(int a, int b) {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    int t = a;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    a = b;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    b = t;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73152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5146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8000"/>
                </a:solidFill>
                <a:latin typeface="Calibri"/>
              </a:rPr>
              <a:t>✓  Truyền địa chỉ – hoán đổi đúng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926080"/>
            <a:ext cx="539496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void swap(int *a, int *b) {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    int t = *a;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    *a = *b;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    *b = t;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}   </a:t>
            </a:r>
            <a:r>
              <a:rPr sz="1600" b="0">
                <a:solidFill>
                  <a:srgbClr val="008000"/>
                </a:solidFill>
                <a:latin typeface="Consolas"/>
              </a:rPr>
              <a:t>// gọi: swap(&amp;x, &amp;y);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926080"/>
            <a:ext cx="73152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E75B6"/>
                </a:solidFill>
                <a:latin typeface="Calibri"/>
              </a:rPr>
              <a:t>■  </a:t>
            </a:r>
            <a:r>
              <a:rPr sz="1900" b="0">
                <a:solidFill>
                  <a:srgbClr val="000000"/>
                </a:solidFill>
                <a:latin typeface="Calibri"/>
              </a:rPr>
              <a:t>Ứng dụng: trả về nhiều kết quả, truyền mảng lớn không sao chép, </a:t>
            </a:r>
            <a:r>
              <a:rPr sz="1900" b="0">
                <a:solidFill>
                  <a:srgbClr val="1F4E79"/>
                </a:solidFill>
                <a:latin typeface="Consolas"/>
              </a:rPr>
              <a:t>scanf("%d", &amp;x)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E75B6"/>
                </a:solidFill>
                <a:latin typeface="Calibri"/>
              </a:rPr>
              <a:t>■  </a:t>
            </a:r>
            <a:r>
              <a:rPr sz="1900" b="1">
                <a:solidFill>
                  <a:srgbClr val="000000"/>
                </a:solidFill>
                <a:latin typeface="Calibri"/>
              </a:rPr>
              <a:t>Con trỏ hàm</a:t>
            </a:r>
            <a:r>
              <a:rPr sz="1900" b="0">
                <a:solidFill>
                  <a:srgbClr val="000000"/>
                </a:solidFill>
                <a:latin typeface="Calibri"/>
              </a:rPr>
              <a:t>: truyền hàm làm tham số (callback) – </a:t>
            </a:r>
            <a:r>
              <a:rPr sz="1900" b="0">
                <a:solidFill>
                  <a:srgbClr val="1F4E79"/>
                </a:solidFill>
                <a:latin typeface="Consolas"/>
              </a:rPr>
              <a:t>qsort</a:t>
            </a:r>
            <a:r>
              <a:rPr sz="1900" b="0">
                <a:solidFill>
                  <a:srgbClr val="000000"/>
                </a:solidFill>
                <a:latin typeface="Calibri"/>
              </a:rPr>
              <a:t>, </a:t>
            </a:r>
            <a:r>
              <a:rPr sz="1900" b="0">
                <a:solidFill>
                  <a:srgbClr val="1F4E79"/>
                </a:solidFill>
                <a:latin typeface="Consolas"/>
              </a:rPr>
              <a:t>pthread_create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5. Cấp phát bộ nhớ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000000"/>
                </a:solidFill>
                <a:latin typeface="Calibri"/>
              </a:rPr>
              <a:t>Dùng khi </a:t>
            </a:r>
            <a:r>
              <a:rPr sz="2100" b="1">
                <a:solidFill>
                  <a:srgbClr val="000000"/>
                </a:solidFill>
                <a:latin typeface="Calibri"/>
              </a:rPr>
              <a:t>lúc chạy</a:t>
            </a:r>
            <a:r>
              <a:rPr sz="2100" b="0">
                <a:solidFill>
                  <a:srgbClr val="000000"/>
                </a:solidFill>
                <a:latin typeface="Calibri"/>
              </a:rPr>
              <a:t> mới biết kích thước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000000"/>
                </a:solidFill>
                <a:latin typeface="Calibri"/>
              </a:rPr>
              <a:t>Bộ nhớ nằm trên </a:t>
            </a:r>
            <a:r>
              <a:rPr sz="2100" b="1">
                <a:solidFill>
                  <a:srgbClr val="000000"/>
                </a:solidFill>
                <a:latin typeface="Calibri"/>
              </a:rPr>
              <a:t>Heap</a:t>
            </a:r>
            <a:r>
              <a:rPr sz="2100" b="0">
                <a:solidFill>
                  <a:srgbClr val="000000"/>
                </a:solidFill>
                <a:latin typeface="Calibri"/>
              </a:rPr>
              <a:t>, trả về một </a:t>
            </a:r>
            <a:r>
              <a:rPr sz="2100" b="1">
                <a:solidFill>
                  <a:srgbClr val="000000"/>
                </a:solidFill>
                <a:latin typeface="Calibri"/>
              </a:rPr>
              <a:t>con trỏ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1">
                <a:solidFill>
                  <a:srgbClr val="000000"/>
                </a:solidFill>
                <a:latin typeface="Calibri"/>
              </a:rPr>
              <a:t>Phải tự giải phóng</a:t>
            </a:r>
            <a:r>
              <a:rPr sz="2100" b="0">
                <a:solidFill>
                  <a:srgbClr val="000000"/>
                </a:solidFill>
                <a:latin typeface="Calibri"/>
              </a:rPr>
              <a:t>, nếu không sẽ rò rỉ bộ nhớ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000000"/>
                </a:solidFill>
                <a:latin typeface="Calibri"/>
              </a:rPr>
              <a:t>Luôn kiểm tra kết quả cấp phát (</a:t>
            </a:r>
            <a:r>
              <a:rPr sz="2100" b="0">
                <a:solidFill>
                  <a:srgbClr val="1F4E79"/>
                </a:solidFill>
                <a:latin typeface="Consolas"/>
              </a:rPr>
              <a:t>NULL</a:t>
            </a:r>
            <a:r>
              <a:rPr sz="2100" b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88620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C++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Cấp phát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Consolas"/>
                        </a:rPr>
                        <a:t>malloc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sz="1600" b="0">
                          <a:solidFill>
                            <a:srgbClr val="1F4E79"/>
                          </a:solidFill>
                          <a:latin typeface="Consolas"/>
                        </a:rPr>
                        <a:t>calloc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Consolas"/>
                        </a:rPr>
                        <a:t>new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sz="1600" b="0">
                          <a:solidFill>
                            <a:srgbClr val="1F4E79"/>
                          </a:solidFill>
                          <a:latin typeface="Consolas"/>
                        </a:rPr>
                        <a:t>new[]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Giải phóng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Consolas"/>
                        </a:rPr>
                        <a:t>free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Consolas"/>
                        </a:rPr>
                        <a:t>delete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sz="1600" b="0">
                          <a:solidFill>
                            <a:srgbClr val="1F4E79"/>
                          </a:solidFill>
                          <a:latin typeface="Consolas"/>
                        </a:rPr>
                        <a:t>delete[]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Khi lỗi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trả về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ném bad_alloc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13258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4937760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int n = 100;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int *arr = (int*)malloc(n * sizeof(int));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if (arr == NULL) return 1;</a:t>
            </a:r>
          </a:p>
          <a:p>
            <a:pPr algn="l"/>
            <a:r>
              <a:rPr sz="1500" b="0">
                <a:solidFill>
                  <a:srgbClr val="008000"/>
                </a:solidFill>
                <a:latin typeface="Consolas"/>
              </a:rPr>
              <a:t>// ... sử dụng arr ...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free(arr);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arr = NULL;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737360"/>
            <a:ext cx="73152" cy="2103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023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C++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4434840"/>
            <a:ext cx="4937760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int *arr = new int[n];</a:t>
            </a:r>
          </a:p>
          <a:p>
            <a:pPr algn="l"/>
            <a:r>
              <a:rPr sz="1500" b="0">
                <a:solidFill>
                  <a:srgbClr val="008000"/>
                </a:solidFill>
                <a:latin typeface="Consolas"/>
              </a:rPr>
              <a:t>// ... sử dụng arr ...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delete[] arr;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434840"/>
            <a:ext cx="73152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6. Lỗi thường gặp với con trỏ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8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265176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Wild pointer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Chưa khởi tạo,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trỏ tới địa chỉ ngẫu nhiên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265176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int *p;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*p = 5;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325880"/>
            <a:ext cx="265176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NULL pointer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8745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Truy cập *p khi p == NULL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→ Segmentation 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3063240"/>
            <a:ext cx="265176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int *p = NULL;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*p = 5;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306324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325880"/>
            <a:ext cx="265176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Dangling pointer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8745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Dùng con trỏ sau khi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đã free /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3063240"/>
            <a:ext cx="265176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free(p);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*p = 5;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306324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325880"/>
            <a:ext cx="265176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Memory leak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8745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Cấp phát nhưng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không giải phóng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3063240"/>
            <a:ext cx="265176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p = malloc(..);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p = malloc(..);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7696" y="306324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343400"/>
            <a:ext cx="11094415" cy="182880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Calibri"/>
              </a:rPr>
              <a:t>Cách phòng tránh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Luôn khởi tạo: </a:t>
            </a:r>
            <a:r>
              <a:rPr sz="1900" b="0">
                <a:solidFill>
                  <a:srgbClr val="1F4E79"/>
                </a:solidFill>
                <a:latin typeface="Consolas"/>
              </a:rPr>
              <a:t>int *p = NULL;</a:t>
            </a:r>
            <a:r>
              <a:rPr sz="1900" b="0">
                <a:solidFill>
                  <a:srgbClr val="000000"/>
                </a:solidFill>
                <a:latin typeface="Calibri"/>
              </a:rPr>
              <a:t>  (C++: </a:t>
            </a:r>
            <a:r>
              <a:rPr sz="1900" b="0">
                <a:solidFill>
                  <a:srgbClr val="1F4E79"/>
                </a:solidFill>
                <a:latin typeface="Consolas"/>
              </a:rPr>
              <a:t>nullptr</a:t>
            </a:r>
            <a:r>
              <a:rPr sz="1900" b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Sau </a:t>
            </a:r>
            <a:r>
              <a:rPr sz="1900" b="0">
                <a:solidFill>
                  <a:srgbClr val="1F4E79"/>
                </a:solidFill>
                <a:latin typeface="Consolas"/>
              </a:rPr>
              <a:t>free(p);</a:t>
            </a:r>
            <a:r>
              <a:rPr sz="1900" b="0">
                <a:solidFill>
                  <a:srgbClr val="000000"/>
                </a:solidFill>
                <a:latin typeface="Calibri"/>
              </a:rPr>
              <a:t> gán </a:t>
            </a:r>
            <a:r>
              <a:rPr sz="1900" b="0">
                <a:solidFill>
                  <a:srgbClr val="1F4E79"/>
                </a:solidFill>
                <a:latin typeface="Consolas"/>
              </a:rPr>
              <a:t>p = NULL;</a:t>
            </a:r>
            <a:r>
              <a:rPr sz="1900" b="0">
                <a:solidFill>
                  <a:srgbClr val="000000"/>
                </a:solidFill>
                <a:latin typeface="Calibri"/>
              </a:rPr>
              <a:t> – mỗi </a:t>
            </a:r>
            <a:r>
              <a:rPr sz="1900" b="0">
                <a:solidFill>
                  <a:srgbClr val="1F4E79"/>
                </a:solidFill>
                <a:latin typeface="Consolas"/>
              </a:rPr>
              <a:t>malloc</a:t>
            </a:r>
            <a:r>
              <a:rPr sz="1900" b="0">
                <a:solidFill>
                  <a:srgbClr val="000000"/>
                </a:solidFill>
                <a:latin typeface="Calibri"/>
              </a:rPr>
              <a:t> đi kèm một </a:t>
            </a:r>
            <a:r>
              <a:rPr sz="1900" b="0">
                <a:solidFill>
                  <a:srgbClr val="1F4E79"/>
                </a:solidFill>
                <a:latin typeface="Consolas"/>
              </a:rPr>
              <a:t>free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Công cụ kiểm tra: Valgrind, AddressSanitizer (</a:t>
            </a:r>
            <a:r>
              <a:rPr sz="1900" b="0">
                <a:solidFill>
                  <a:srgbClr val="1F4E79"/>
                </a:solidFill>
                <a:latin typeface="Consolas"/>
              </a:rPr>
              <a:t>-fsanitize=address</a:t>
            </a:r>
            <a:r>
              <a:rPr sz="1900" b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7. Con trỏ trong C++ hiện đại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1">
                <a:solidFill>
                  <a:srgbClr val="000000"/>
                </a:solidFill>
                <a:latin typeface="Calibri"/>
              </a:rPr>
              <a:t>Tham chiếu</a:t>
            </a:r>
            <a:r>
              <a:rPr sz="2100" b="0">
                <a:solidFill>
                  <a:srgbClr val="000000"/>
                </a:solidFill>
                <a:latin typeface="Calibri"/>
              </a:rPr>
              <a:t> (</a:t>
            </a:r>
            <a:r>
              <a:rPr sz="2100" b="0">
                <a:solidFill>
                  <a:srgbClr val="1F4E79"/>
                </a:solidFill>
                <a:latin typeface="Consolas"/>
              </a:rPr>
              <a:t>&amp;</a:t>
            </a:r>
            <a:r>
              <a:rPr sz="2100" b="0">
                <a:solidFill>
                  <a:srgbClr val="000000"/>
                </a:solidFill>
                <a:latin typeface="Calibri"/>
              </a:rPr>
              <a:t>): tên gọi khác của biến, không NULL, không đổi đối tượng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1">
                <a:solidFill>
                  <a:srgbClr val="000000"/>
                </a:solidFill>
                <a:latin typeface="Calibri"/>
              </a:rPr>
              <a:t>Smart pointer</a:t>
            </a:r>
            <a:r>
              <a:rPr sz="2100" b="0">
                <a:solidFill>
                  <a:srgbClr val="000000"/>
                </a:solidFill>
                <a:latin typeface="Calibri"/>
              </a:rPr>
              <a:t> (</a:t>
            </a:r>
            <a:r>
              <a:rPr sz="2100" b="0">
                <a:solidFill>
                  <a:srgbClr val="1F4E79"/>
                </a:solidFill>
                <a:latin typeface="Consolas"/>
              </a:rPr>
              <a:t>&lt;memory&gt;</a:t>
            </a:r>
            <a:r>
              <a:rPr sz="2100" b="0">
                <a:solidFill>
                  <a:srgbClr val="000000"/>
                </a:solidFill>
                <a:latin typeface="Calibri"/>
              </a:rPr>
              <a:t>): tự giải phóng khi ra khỏi phạm vi (RAII)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E75B6"/>
                </a:solidFill>
                <a:latin typeface="Calibri"/>
              </a:rPr>
              <a:t>      –  </a:t>
            </a:r>
            <a:r>
              <a:rPr sz="1900" b="0">
                <a:solidFill>
                  <a:srgbClr val="1F4E79"/>
                </a:solidFill>
                <a:latin typeface="Consolas"/>
              </a:rPr>
              <a:t>unique_ptr</a:t>
            </a:r>
            <a:r>
              <a:rPr sz="1900" b="0">
                <a:solidFill>
                  <a:srgbClr val="000000"/>
                </a:solidFill>
                <a:latin typeface="Calibri"/>
              </a:rPr>
              <a:t>: một chủ sở hữu, không sao chép được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E75B6"/>
                </a:solidFill>
                <a:latin typeface="Calibri"/>
              </a:rPr>
              <a:t>      –  </a:t>
            </a:r>
            <a:r>
              <a:rPr sz="1900" b="0">
                <a:solidFill>
                  <a:srgbClr val="1F4E79"/>
                </a:solidFill>
                <a:latin typeface="Consolas"/>
              </a:rPr>
              <a:t>shared_ptr</a:t>
            </a:r>
            <a:r>
              <a:rPr sz="1900" b="0">
                <a:solidFill>
                  <a:srgbClr val="000000"/>
                </a:solidFill>
                <a:latin typeface="Calibri"/>
              </a:rPr>
              <a:t>: nhiều chủ sở hữu, đếm tham chiếu, về 0 thì tự xóa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E75B6"/>
                </a:solidFill>
                <a:latin typeface="Calibri"/>
              </a:rPr>
              <a:t>      –  </a:t>
            </a:r>
            <a:r>
              <a:rPr sz="1900" b="0">
                <a:solidFill>
                  <a:srgbClr val="1F4E79"/>
                </a:solidFill>
                <a:latin typeface="Consolas"/>
              </a:rPr>
              <a:t>weak_ptr</a:t>
            </a:r>
            <a:r>
              <a:rPr sz="1900" b="0">
                <a:solidFill>
                  <a:srgbClr val="000000"/>
                </a:solidFill>
                <a:latin typeface="Calibri"/>
              </a:rPr>
              <a:t>: chỉ quan sát, tránh vòng tham chiếu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000000"/>
                </a:solidFill>
                <a:latin typeface="Calibri"/>
              </a:rPr>
              <a:t>Ưu tiên </a:t>
            </a:r>
            <a:r>
              <a:rPr sz="2100" b="0">
                <a:solidFill>
                  <a:srgbClr val="1F4E79"/>
                </a:solidFill>
                <a:latin typeface="Consolas"/>
              </a:rPr>
              <a:t>make_unique</a:t>
            </a:r>
            <a:r>
              <a:rPr sz="2100" b="0">
                <a:solidFill>
                  <a:srgbClr val="000000"/>
                </a:solidFill>
                <a:latin typeface="Calibri"/>
              </a:rPr>
              <a:t> / </a:t>
            </a:r>
            <a:r>
              <a:rPr sz="2100" b="0">
                <a:solidFill>
                  <a:srgbClr val="1F4E79"/>
                </a:solidFill>
                <a:latin typeface="Consolas"/>
              </a:rPr>
              <a:t>make_shared</a:t>
            </a:r>
            <a:r>
              <a:rPr sz="2100" b="0">
                <a:solidFill>
                  <a:srgbClr val="000000"/>
                </a:solidFill>
                <a:latin typeface="Calibri"/>
              </a:rPr>
              <a:t> thay vì </a:t>
            </a:r>
            <a:r>
              <a:rPr sz="2100" b="0">
                <a:solidFill>
                  <a:srgbClr val="1F4E79"/>
                </a:solidFill>
                <a:latin typeface="Consolas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Tham chiếu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5029200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void swap(int &amp;a, int &amp;b) {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    int t = a; a = b; b = t;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swap(x, y);   </a:t>
            </a:r>
            <a:r>
              <a:rPr sz="1500" b="0">
                <a:solidFill>
                  <a:srgbClr val="008000"/>
                </a:solidFill>
                <a:latin typeface="Consolas"/>
              </a:rPr>
              <a:t>// không cần &amp;x, &amp;y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73152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Smart pointer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520440"/>
            <a:ext cx="5029200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#include &lt;memory&gt;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auto p = std::make_unique&lt;int&gt;(10);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auto q = std::make_shared&lt;int&gt;(20);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</a:rPr>
              <a:t>auto r = q;   </a:t>
            </a:r>
            <a:r>
              <a:rPr sz="1500" b="0">
                <a:solidFill>
                  <a:srgbClr val="008000"/>
                </a:solidFill>
                <a:latin typeface="Consolas"/>
              </a:rPr>
              <a:t>// đếm tham chiếu = 2</a:t>
            </a:r>
          </a:p>
          <a:p>
            <a:pPr algn="l"/>
            <a:r>
              <a:rPr sz="1500" b="0">
                <a:solidFill>
                  <a:srgbClr val="008000"/>
                </a:solidFill>
                <a:latin typeface="Consolas"/>
              </a:rPr>
              <a:t>// không cần delete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520440"/>
            <a:ext cx="73152" cy="2103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8. Con trỏ trong tính toán song song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000000"/>
                </a:solidFill>
                <a:latin typeface="Calibri"/>
              </a:rPr>
              <a:t>Các luồng (thread) </a:t>
            </a:r>
            <a:r>
              <a:rPr sz="2100" b="1">
                <a:solidFill>
                  <a:srgbClr val="000000"/>
                </a:solidFill>
                <a:latin typeface="Calibri"/>
              </a:rPr>
              <a:t>dùng chung bộ nhớ</a:t>
            </a:r>
            <a:r>
              <a:rPr sz="2100" b="0">
                <a:solidFill>
                  <a:srgbClr val="000000"/>
                </a:solidFill>
                <a:latin typeface="Calibri"/>
              </a:rPr>
              <a:t> của tiến trình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000000"/>
                </a:solidFill>
                <a:latin typeface="Calibri"/>
              </a:rPr>
              <a:t>Con trỏ giúp </a:t>
            </a:r>
            <a:r>
              <a:rPr sz="2100" b="1">
                <a:solidFill>
                  <a:srgbClr val="000000"/>
                </a:solidFill>
                <a:latin typeface="Calibri"/>
              </a:rPr>
              <a:t>chia dữ liệu</a:t>
            </a:r>
            <a:r>
              <a:rPr sz="2100" b="0">
                <a:solidFill>
                  <a:srgbClr val="000000"/>
                </a:solidFill>
                <a:latin typeface="Calibri"/>
              </a:rPr>
              <a:t> cho từng luồng, </a:t>
            </a:r>
            <a:r>
              <a:rPr sz="2100" b="1">
                <a:solidFill>
                  <a:srgbClr val="000000"/>
                </a:solidFill>
                <a:latin typeface="Calibri"/>
              </a:rPr>
              <a:t>không sao chép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1F4E79"/>
                </a:solidFill>
                <a:latin typeface="Consolas"/>
              </a:rPr>
              <a:t>pthread_create</a:t>
            </a:r>
            <a:r>
              <a:rPr sz="2100" b="0">
                <a:solidFill>
                  <a:srgbClr val="000000"/>
                </a:solidFill>
                <a:latin typeface="Calibri"/>
              </a:rPr>
              <a:t> truyền tham số qua </a:t>
            </a:r>
            <a:r>
              <a:rPr sz="2100" b="0">
                <a:solidFill>
                  <a:srgbClr val="1F4E79"/>
                </a:solidFill>
                <a:latin typeface="Consolas"/>
              </a:rPr>
              <a:t>void *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E75B6"/>
                </a:solidFill>
                <a:latin typeface="Calibri"/>
              </a:rPr>
              <a:t>■  </a:t>
            </a:r>
            <a:r>
              <a:rPr sz="2100" b="0">
                <a:solidFill>
                  <a:srgbClr val="000000"/>
                </a:solidFill>
                <a:latin typeface="Calibri"/>
              </a:rPr>
              <a:t>Nhiều tham số → gói vào </a:t>
            </a:r>
            <a:r>
              <a:rPr sz="2100" b="0">
                <a:solidFill>
                  <a:srgbClr val="1F4E79"/>
                </a:solidFill>
                <a:latin typeface="Consolas"/>
              </a:rPr>
              <a:t>struct</a:t>
            </a:r>
            <a:r>
              <a:rPr sz="2100" b="0">
                <a:solidFill>
                  <a:srgbClr val="000000"/>
                </a:solidFill>
                <a:latin typeface="Calibri"/>
              </a:rPr>
              <a:t>, truyền địa chỉ struct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5852160" cy="146304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300" b="0">
                <a:solidFill>
                  <a:srgbClr val="000000"/>
                </a:solidFill>
                <a:latin typeface="Consolas"/>
              </a:rPr>
              <a:t>int pthread_create(pthread_t *thread,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onsolas"/>
              </a:rPr>
              <a:t>        const pthread_attr_t *attr,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onsolas"/>
              </a:rPr>
              <a:t>        void *(*start_routine)(void *),  </a:t>
            </a:r>
            <a:r>
              <a:rPr sz="1300" b="0">
                <a:solidFill>
                  <a:srgbClr val="008000"/>
                </a:solidFill>
                <a:latin typeface="Consolas"/>
              </a:rPr>
              <a:t>// con trỏ hàm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onsolas"/>
              </a:rPr>
              <a:t>        void *arg);                      </a:t>
            </a:r>
            <a:r>
              <a:rPr sz="1300" b="0">
                <a:solidFill>
                  <a:srgbClr val="008000"/>
                </a:solidFill>
                <a:latin typeface="Consolas"/>
              </a:rPr>
              <a:t>// con trỏ void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73152" cy="1463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1325880"/>
            <a:ext cx="4846320" cy="420624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13716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C55A11"/>
                </a:solidFill>
                <a:latin typeface="Calibri"/>
              </a:rPr>
              <a:t>⚠  Cần chú ý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Race condition</a:t>
            </a:r>
            <a:r>
              <a:rPr sz="1700" b="0">
                <a:solidFill>
                  <a:srgbClr val="000000"/>
                </a:solidFill>
                <a:latin typeface="Calibri"/>
              </a:rPr>
              <a:t>: nhiều luồng cùng ghi một địa chỉ → kết quả sai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dùng mutex / atomic, hoặc mỗi luồng ghi vùng riêng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Địa chỉ không hợp lệ</a:t>
            </a:r>
            <a:r>
              <a:rPr sz="1700" b="0">
                <a:solidFill>
                  <a:srgbClr val="000000"/>
                </a:solidFill>
                <a:latin typeface="Calibri"/>
              </a:rPr>
              <a:t>: truyền </a:t>
            </a:r>
            <a:r>
              <a:rPr sz="1700" b="0">
                <a:solidFill>
                  <a:srgbClr val="1F4E79"/>
                </a:solidFill>
                <a:latin typeface="Consolas"/>
              </a:rPr>
              <a:t>&amp;i</a:t>
            </a:r>
            <a:r>
              <a:rPr sz="1700" b="0">
                <a:solidFill>
                  <a:srgbClr val="000000"/>
                </a:solidFill>
                <a:latin typeface="Calibri"/>
              </a:rPr>
              <a:t> của vòng lặp, hoặc biến cục bộ đã hết phạm vi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mỗi luồng một phần tử riêng: </a:t>
            </a:r>
            <a:r>
              <a:rPr sz="1600" b="0">
                <a:solidFill>
                  <a:srgbClr val="1F4E79"/>
                </a:solidFill>
                <a:latin typeface="Consolas"/>
              </a:rPr>
              <a:t>&amp;tk[i]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False sharing</a:t>
            </a:r>
            <a:r>
              <a:rPr sz="1700" b="0">
                <a:solidFill>
                  <a:srgbClr val="000000"/>
                </a:solidFill>
                <a:latin typeface="Calibri"/>
              </a:rPr>
              <a:t>: biến khác nhau nằm chung cache line → chậm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62356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Liên hệ: OpenMP, CUDA (cudaMalloc), MPI (con trỏ tới bộ đệm)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9. Ví dụ: Tính tổng mảng bằng nhiều luồng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11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0" cy="4892040"/>
          </a:xfrm>
          <a:prstGeom prst="rect">
            <a:avLst/>
          </a:prstGeom>
          <a:solidFill>
            <a:srgbClr val="F4F6F8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typedef struct { int *start; int len; long sum; } Task;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void *work(void *arg) {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Task *t = (Task *)arg;           </a:t>
            </a:r>
            <a:r>
              <a:rPr sz="1400" b="0">
                <a:solidFill>
                  <a:srgbClr val="008000"/>
                </a:solidFill>
                <a:latin typeface="Consolas"/>
              </a:rPr>
              <a:t>// ép void* về Task*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t-&gt;sum = 0;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for (int i = 0; i &lt; t-&gt;len; i++)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    t-&gt;sum += *(t-&gt;start + i);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return NULL;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008000"/>
                </a:solidFill>
                <a:latin typeface="Consolas"/>
              </a:rPr>
              <a:t>// trong main():  N = 8, T = 2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for (int i = 0; i &lt; T; i++) {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tk[i].start = a + i * (N / T);   </a:t>
            </a:r>
            <a:r>
              <a:rPr sz="1400" b="0">
                <a:solidFill>
                  <a:srgbClr val="008000"/>
                </a:solidFill>
                <a:latin typeface="Consolas"/>
              </a:rPr>
              <a:t>// số học con trỏ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tk[i].len   = N / T;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pthread_create(&amp;th[i], NULL, work, &amp;tk[i]);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for (int i = 0; i &lt; T; i++) {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pthread_join(th[i], NULL);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    total += tk[i].sum;              </a:t>
            </a:r>
            <a:r>
              <a:rPr sz="1400" b="0">
                <a:solidFill>
                  <a:srgbClr val="008000"/>
                </a:solidFill>
                <a:latin typeface="Consolas"/>
              </a:rPr>
              <a:t>// total = 36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73152" cy="4892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3258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Chia mảng cho 2 luồng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331720"/>
            <a:ext cx="530352" cy="64008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5552" y="2331720"/>
            <a:ext cx="530352" cy="64008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75904" y="2331720"/>
            <a:ext cx="530352" cy="64008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2331720"/>
            <a:ext cx="530352" cy="64008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6608" y="2331720"/>
            <a:ext cx="530352" cy="640080"/>
          </a:xfrm>
          <a:prstGeom prst="rect">
            <a:avLst/>
          </a:prstGeom>
          <a:solidFill>
            <a:srgbClr val="FCE4D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2331720"/>
            <a:ext cx="530352" cy="640080"/>
          </a:xfrm>
          <a:prstGeom prst="rect">
            <a:avLst/>
          </a:prstGeom>
          <a:solidFill>
            <a:srgbClr val="FCE4D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97312" y="2331720"/>
            <a:ext cx="530352" cy="640080"/>
          </a:xfrm>
          <a:prstGeom prst="rect">
            <a:avLst/>
          </a:prstGeom>
          <a:solidFill>
            <a:srgbClr val="FCE4D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7663" y="2331720"/>
            <a:ext cx="530352" cy="640080"/>
          </a:xfrm>
          <a:prstGeom prst="rect">
            <a:avLst/>
          </a:prstGeom>
          <a:solidFill>
            <a:srgbClr val="FCE4D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874519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Consolas"/>
              </a:rPr>
              <a:t>a + 0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8" y="1874519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55A11"/>
                </a:solidFill>
                <a:latin typeface="Consolas"/>
              </a:rPr>
              <a:t>a + 4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200400"/>
            <a:ext cx="2057400" cy="68580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Luồng 0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sum =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200400"/>
            <a:ext cx="2057400" cy="685800"/>
          </a:xfrm>
          <a:prstGeom prst="rect">
            <a:avLst/>
          </a:prstGeom>
          <a:solidFill>
            <a:srgbClr val="FCE4D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Luồng 1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sum = 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206240"/>
            <a:ext cx="20574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Tổng = 36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39327" y="3886200"/>
            <a:ext cx="621793" cy="320040"/>
          </a:xfrm>
          <a:prstGeom prst="line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921240" y="3886200"/>
            <a:ext cx="612648" cy="320040"/>
          </a:xfrm>
          <a:prstGeom prst="line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0" y="4983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Calibri"/>
              </a:rPr>
              <a:t>■  </a:t>
            </a:r>
            <a:r>
              <a:rPr sz="1700" b="0">
                <a:solidFill>
                  <a:srgbClr val="000000"/>
                </a:solidFill>
                <a:latin typeface="Calibri"/>
              </a:rPr>
              <a:t>Không sao chép mảng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Calibri"/>
              </a:rPr>
              <a:t>■  </a:t>
            </a:r>
            <a:r>
              <a:rPr sz="1700" b="0">
                <a:solidFill>
                  <a:srgbClr val="000000"/>
                </a:solidFill>
                <a:latin typeface="Calibri"/>
              </a:rPr>
              <a:t>Mỗi luồng ghi </a:t>
            </a:r>
            <a:r>
              <a:rPr sz="1700" b="0">
                <a:solidFill>
                  <a:srgbClr val="1F4E79"/>
                </a:solidFill>
                <a:latin typeface="Consolas"/>
              </a:rPr>
              <a:t>sum</a:t>
            </a:r>
            <a:r>
              <a:rPr sz="1700" b="0">
                <a:solidFill>
                  <a:srgbClr val="000000"/>
                </a:solidFill>
                <a:latin typeface="Calibri"/>
              </a:rPr>
              <a:t> riêng → không race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" tIns="27432" bIns="27432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Tính toán song song – Báo cáo giữa kỳ – Con trỏ trong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12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237744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Mạnh mẽ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7589520" cy="9144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45720" tIns="27432" bIns="27432"/>
          <a:lstStyle/>
          <a:p>
            <a:pPr algn="l"/>
            <a:r>
              <a:rPr sz="2200" b="0">
                <a:solidFill>
                  <a:srgbClr val="000000"/>
                </a:solidFill>
                <a:latin typeface="Calibri"/>
              </a:rPr>
              <a:t>Thao tác trực tiếp với bộ nhớ, hiệu năng cao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51760"/>
            <a:ext cx="237744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Nền tảng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651760"/>
            <a:ext cx="7589520" cy="9144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45720" tIns="27432" bIns="27432"/>
          <a:lstStyle/>
          <a:p>
            <a:pPr algn="l"/>
            <a:r>
              <a:rPr sz="2200" b="0">
                <a:solidFill>
                  <a:srgbClr val="000000"/>
                </a:solidFill>
                <a:latin typeface="Calibri"/>
              </a:rPr>
              <a:t>Mảng, hàm, cấp phát động, cấu trúc dữ liệu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237744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Song song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840480"/>
            <a:ext cx="7589520" cy="9144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45720" tIns="27432" bIns="27432"/>
          <a:lstStyle/>
          <a:p>
            <a:pPr algn="l"/>
            <a:r>
              <a:rPr sz="2200" b="0">
                <a:solidFill>
                  <a:srgbClr val="000000"/>
                </a:solidFill>
                <a:latin typeface="Calibri"/>
              </a:rPr>
              <a:t>Chia sẻ dữ liệu giữa các luồng, không cần sao chép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5029200"/>
            <a:ext cx="237744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Cẩn thận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5029200"/>
            <a:ext cx="7589520" cy="9144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45720" tIns="27432" bIns="27432"/>
          <a:lstStyle/>
          <a:p>
            <a:pPr algn="l"/>
            <a:r>
              <a:rPr sz="2200" b="0">
                <a:solidFill>
                  <a:srgbClr val="000000"/>
                </a:solidFill>
                <a:latin typeface="Calibri"/>
              </a:rPr>
              <a:t>Dễ lỗi bộ nhớ &amp; race condition – C++ ưu tiên smart pointer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Calibri"/>
              </a:rPr>
              <a:t>CẢM ƠN THẦY/CÔ VÀ CÁC BẠN</a:t>
            </a:r>
          </a:p>
          <a:p>
            <a:pPr algn="ctr"/>
            <a:r>
              <a:rPr sz="4000" b="1">
                <a:solidFill>
                  <a:srgbClr val="1F4E79"/>
                </a:solidFill>
                <a:latin typeface="Calibri"/>
              </a:rPr>
              <a:t>ĐÃ LẮNG NGHE!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3657600"/>
            <a:ext cx="274320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Calibri"/>
              </a:rPr>
              <a:t>Hỏi &amp; Đáp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Bùi Xuân Chung  •  Lê Văn Cường  •  Đào Ngọc Cường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